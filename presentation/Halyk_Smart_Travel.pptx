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658368"/>
            <a:ext cx="441655" cy="441655"/>
          </a:xfrm>
          <a:prstGeom prst="roundRect">
            <a:avLst>
              <a:gd name="adj" fmla="val 3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441655" cy="4416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Segoe U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90802" y="616305"/>
            <a:ext cx="3364991" cy="53309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211C"/>
                </a:solidFill>
                <a:latin typeface="Segoe UI"/>
              </a:rPr>
              <a:t>Halyk </a:t>
            </a:r>
            <a:r>
              <a:rPr sz="1900" b="1">
                <a:solidFill>
                  <a:srgbClr val="00A84B"/>
                </a:solidFill>
                <a:latin typeface="Segoe UI"/>
              </a:rPr>
              <a:t>Smart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6070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sz="5400" b="0">
                <a:solidFill>
                  <a:srgbClr val="23211C"/>
                </a:solidFill>
                <a:latin typeface="Georgia"/>
              </a:rPr>
              <a:t>Smart Travel </a:t>
            </a:r>
            <a:r>
              <a:rPr sz="5400" b="0">
                <a:solidFill>
                  <a:srgbClr val="057A39"/>
                </a:solidFill>
                <a:latin typeface="Georgia"/>
              </a:rPr>
              <a:t>Companion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2100" b="0">
                <a:solidFill>
                  <a:srgbClr val="5C574E"/>
                </a:solidFill>
                <a:latin typeface="Segoe UI"/>
              </a:rPr>
              <a:t>AI-ассистент, который превращает покупку билета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5C574E"/>
                </a:solidFill>
                <a:latin typeface="Segoe UI"/>
              </a:rPr>
              <a:t>в операционный штаб семейной поездки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120640"/>
            <a:ext cx="1604772" cy="347472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120640"/>
            <a:ext cx="16047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7A39"/>
                </a:solidFill>
                <a:latin typeface="Segoe UI"/>
              </a:rPr>
              <a:t>Алматы → Астана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5120640"/>
            <a:ext cx="2564892" cy="347472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5120640"/>
            <a:ext cx="25648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7A39"/>
                </a:solidFill>
                <a:latin typeface="Segoe UI"/>
              </a:rPr>
              <a:t>ночной поезд · семья из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4476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99386"/>
                </a:solidFill>
                <a:latin typeface="Segoe UI"/>
              </a:rPr>
              <a:t>Демо-прототип  ·  LangGraph + claude-haiku-4-5  ·  один контейнер,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01 · ПРОБЛЕМА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Клиент купил билет — и ушёл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6035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700" b="1">
                <a:solidFill>
                  <a:srgbClr val="23211C"/>
                </a:solidFill>
                <a:latin typeface="Segoe UI"/>
              </a:rPr>
              <a:t>Halyk Travel сегодня — </a:t>
            </a:r>
            <a:r>
              <a:rPr sz="1700" b="0">
                <a:solidFill>
                  <a:srgbClr val="5C574E"/>
                </a:solidFill>
                <a:latin typeface="Segoe UI"/>
              </a:rPr>
              <a:t>сервис покупки билетов. На этом контакт с клиентом заканчивается.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700" b="1">
                <a:solidFill>
                  <a:srgbClr val="23211C"/>
                </a:solidFill>
                <a:latin typeface="Segoe UI"/>
              </a:rPr>
              <a:t>Отель, страховка, трансфер, развлечения, питание </a:t>
            </a:r>
            <a:r>
              <a:rPr sz="1700" b="0">
                <a:solidFill>
                  <a:srgbClr val="5C574E"/>
                </a:solidFill>
                <a:latin typeface="Segoe UI"/>
              </a:rPr>
              <a:t>клиент организует сам, в чужих приложениях.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7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700" b="1">
                <a:solidFill>
                  <a:srgbClr val="23211C"/>
                </a:solidFill>
                <a:latin typeface="Segoe UI"/>
              </a:rPr>
              <a:t>Все downstream-транзакции </a:t>
            </a:r>
            <a:r>
              <a:rPr sz="1700" b="0">
                <a:solidFill>
                  <a:srgbClr val="5C574E"/>
                </a:solidFill>
                <a:latin typeface="Segoe UI"/>
              </a:rPr>
              <a:t>уходят к конкурентам — вместе с данными и лояльностью.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1965960"/>
            <a:ext cx="4050791" cy="3703320"/>
          </a:xfrm>
          <a:prstGeom prst="roundRect">
            <a:avLst>
              <a:gd name="adj" fmla="val 5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0" y="2121408"/>
            <a:ext cx="91440" cy="3392424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2377440"/>
            <a:ext cx="3291840" cy="2926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000" b="0">
                <a:solidFill>
                  <a:srgbClr val="057A39"/>
                </a:solidFill>
                <a:latin typeface="Georgia"/>
              </a:rPr>
              <a:t>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</a:pPr>
            <a:r>
              <a:rPr sz="1900" b="1">
                <a:solidFill>
                  <a:srgbClr val="23211C"/>
                </a:solidFill>
                <a:latin typeface="Segoe UI"/>
              </a:rPr>
              <a:t>транзакция вместо </a:t>
            </a:r>
            <a:r>
              <a:rPr sz="1900" b="1">
                <a:solidFill>
                  <a:srgbClr val="00A84B"/>
                </a:solidFill>
                <a:latin typeface="Segoe UI"/>
              </a:rPr>
              <a:t>15+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5C574E"/>
                </a:solidFill>
                <a:latin typeface="Segoe UI"/>
              </a:rPr>
              <a:t>Каждая неоформленная услуга — упущенная выручка и ушедший клиент.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02 · ИНСАЙТ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4000" b="0">
                <a:solidFill>
                  <a:srgbClr val="23211C"/>
                </a:solidFill>
                <a:latin typeface="Georgia"/>
              </a:rPr>
              <a:t>Продукт строится на </a:t>
            </a:r>
            <a:r>
              <a:rPr sz="4000" b="0">
                <a:solidFill>
                  <a:srgbClr val="057A39"/>
                </a:solidFill>
                <a:latin typeface="Georgia"/>
              </a:rPr>
              <a:t>карте тревог клиента,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23211C"/>
                </a:solidFill>
                <a:latin typeface="Georgia"/>
              </a:rPr>
              <a:t>а не на списке сервисов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7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700" b="0">
                <a:solidFill>
                  <a:srgbClr val="23211C"/>
                </a:solidFill>
                <a:latin typeface="Segoe UI"/>
              </a:rPr>
              <a:t>Каждое сообщение отвечает на конкретную мысль клиента в конкретный момент.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7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700" b="0">
                <a:solidFill>
                  <a:srgbClr val="23211C"/>
                </a:solidFill>
                <a:latin typeface="Segoe UI"/>
              </a:rPr>
              <a:t>«Когда предлагать Appteka» и «когда родитель думает об аптечке» — разные вопросы.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7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700" b="0">
                <a:solidFill>
                  <a:srgbClr val="23211C"/>
                </a:solidFill>
                <a:latin typeface="Segoe UI"/>
              </a:rPr>
              <a:t>Клиент не чувствует, что ему продают, — он чувствует, что о нём заботятся.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03 · РЕШЕНИЕ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Из разовой покупки — в штаб всей поездки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Halyk ведёт клиента </a:t>
            </a:r>
            <a:r>
              <a:rPr sz="1650" b="0">
                <a:solidFill>
                  <a:srgbClr val="5C574E"/>
                </a:solidFill>
                <a:latin typeface="Segoe UI"/>
              </a:rPr>
              <a:t>от покупки билета до возвращения домой, закрывая каждую тревогу в нужный момент.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~18 уведомлений за 18 дней </a:t>
            </a:r>
            <a:r>
              <a:rPr sz="1650" b="0">
                <a:solidFill>
                  <a:srgbClr val="5C574E"/>
                </a:solidFill>
                <a:latin typeface="Segoe UI"/>
              </a:rPr>
              <a:t>— примерно одно в день. Умное молчание важнее умных сообщений.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🎫 Билет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46376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0968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0968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7A39"/>
                </a:solidFill>
                <a:latin typeface="Segoe UI"/>
              </a:rPr>
              <a:t>🏨 Жильё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34385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98977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98977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7A39"/>
                </a:solidFill>
                <a:latin typeface="Segoe UI"/>
              </a:rPr>
              <a:t>📋 Документы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2394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6986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6986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7A39"/>
                </a:solidFill>
                <a:latin typeface="Segoe UI"/>
              </a:rPr>
              <a:t>🛡️ Страховка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0403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74995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4995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7A39"/>
                </a:solidFill>
                <a:latin typeface="Segoe UI"/>
              </a:rPr>
              <a:t>💰 Бюджет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98412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3004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3004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7A39"/>
                </a:solidFill>
                <a:latin typeface="Segoe UI"/>
              </a:rPr>
              <a:t>💊 Аптечка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86420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1012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1012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7A39"/>
                </a:solidFill>
                <a:latin typeface="Segoe UI"/>
              </a:rPr>
              <a:t>🚖 Трансфер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4429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39021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9021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57A39"/>
                </a:solidFill>
                <a:latin typeface="Segoe UI"/>
              </a:rPr>
              <a:t>🎬 Досуг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62438" y="4023360"/>
            <a:ext cx="182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27030" y="4023360"/>
            <a:ext cx="1041704" cy="914400"/>
          </a:xfrm>
          <a:prstGeom prst="roundRect">
            <a:avLst>
              <a:gd name="adj" fmla="val 14000"/>
            </a:avLst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27030" y="4023360"/>
            <a:ext cx="1041704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🏁 Итоги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52120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Фаза 0 (Т−14)   →   Фаза 1 (Т−7…−3)   →   Фаза 2 (в поезде)   →   Фаза 3 (в Астане)   →   Фаза 4 (Итоги)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РЕФЕРЕНСНЫЙ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Одна семья, выходные в Астане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920240"/>
            <a:ext cx="5943600" cy="4114800"/>
          </a:xfrm>
          <a:prstGeom prst="roundRect">
            <a:avLst>
              <a:gd name="adj" fmla="val 5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402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7A39"/>
                </a:solidFill>
                <a:latin typeface="Segoe UI"/>
              </a:rPr>
              <a:t>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03704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211C"/>
                </a:solidFill>
                <a:latin typeface="Segoe UI"/>
              </a:rPr>
              <a:t>Айдар   </a:t>
            </a:r>
            <a:r>
              <a:rPr sz="1450" b="0">
                <a:solidFill>
                  <a:srgbClr val="5C574E"/>
                </a:solidFill>
                <a:latin typeface="Segoe UI"/>
              </a:rPr>
              <a:t>организатор, плательщик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289864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89864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7A39"/>
                </a:solidFill>
                <a:latin typeface="Segoe UI"/>
              </a:rPr>
              <a:t>Ал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2862072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211C"/>
                </a:solidFill>
                <a:latin typeface="Segoe UI"/>
              </a:rPr>
              <a:t>Алия   </a:t>
            </a:r>
            <a:r>
              <a:rPr sz="1450" b="0">
                <a:solidFill>
                  <a:srgbClr val="5C574E"/>
                </a:solidFill>
                <a:latin typeface="Segoe UI"/>
              </a:rPr>
              <a:t>удостоверение истекает 28 июля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5570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57015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7A39"/>
                </a:solidFill>
                <a:latin typeface="Segoe UI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520439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211C"/>
                </a:solidFill>
                <a:latin typeface="Segoe UI"/>
              </a:rPr>
              <a:t>Айша   </a:t>
            </a:r>
            <a:r>
              <a:rPr sz="1450" b="0">
                <a:solidFill>
                  <a:srgbClr val="5C574E"/>
                </a:solidFill>
                <a:latin typeface="Segoe UI"/>
              </a:rPr>
              <a:t>9 лет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4215383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153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57A39"/>
                </a:solidFill>
                <a:latin typeface="Segoe U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4178807"/>
            <a:ext cx="47548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23211C"/>
                </a:solidFill>
                <a:latin typeface="Segoe UI"/>
              </a:rPr>
              <a:t>Тимур   </a:t>
            </a:r>
            <a:r>
              <a:rPr sz="1450" b="0">
                <a:solidFill>
                  <a:srgbClr val="5C574E"/>
                </a:solidFill>
                <a:latin typeface="Segoe UI"/>
              </a:rPr>
              <a:t>5 лет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919471"/>
            <a:ext cx="5394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>
                <a:solidFill>
                  <a:srgbClr val="5C574E"/>
                </a:solidFill>
                <a:latin typeface="Segoe UI"/>
              </a:rPr>
              <a:t>Маршрут:  </a:t>
            </a:r>
            <a:r>
              <a:rPr sz="1350" b="1">
                <a:solidFill>
                  <a:srgbClr val="23211C"/>
                </a:solidFill>
                <a:latin typeface="Segoe UI"/>
              </a:rPr>
              <a:t>Алматы → Астана, ночной поезд ~13 ч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C574E"/>
                </a:solidFill>
                <a:latin typeface="Segoe UI"/>
              </a:rPr>
              <a:t>Даты:  </a:t>
            </a:r>
            <a:r>
              <a:rPr sz="1350" b="1">
                <a:solidFill>
                  <a:srgbClr val="23211C"/>
                </a:solidFill>
                <a:latin typeface="Segoe UI"/>
              </a:rPr>
              <a:t>4→5 июня туда · 5–7 июня в Астане · дождливая суббота +14°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2103120"/>
            <a:ext cx="42062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Главный страх организатора: </a:t>
            </a:r>
            <a:r>
              <a:rPr sz="1600" b="0">
                <a:solidFill>
                  <a:srgbClr val="5C574E"/>
                </a:solidFill>
                <a:latin typeface="Segoe UI"/>
              </a:rPr>
              <a:t>«что-то не предусмотреть».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Готов платить </a:t>
            </a:r>
            <a:r>
              <a:rPr sz="1600" b="0">
                <a:solidFill>
                  <a:srgbClr val="5C574E"/>
                </a:solidFill>
                <a:latin typeface="Segoe UI"/>
              </a:rPr>
              <a:t>за снятие тревоги, а не за сами сервисы.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98909" y="3785616"/>
            <a:ext cx="2673060" cy="221284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w1-wizard-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3773" y="3840480"/>
            <a:ext cx="2563332" cy="2103120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7132320" y="5943600"/>
            <a:ext cx="4206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9386"/>
                </a:solidFill>
                <a:latin typeface="Segoe UI"/>
              </a:rPr>
              <a:t>Демо открывается с покупки билета (3 шага)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04 · ЧТО ВИДИТ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23211C"/>
                </a:solidFill>
                <a:latin typeface="Georgia"/>
              </a:rPr>
              <a:t>Карта тревог клиента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15600" cy="4343400"/>
          </a:xfrm>
          <a:prstGeom prst="roundRect">
            <a:avLst>
              <a:gd name="adj" fmla="val 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874519"/>
            <a:ext cx="10515600" cy="43434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874519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Момент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67328" y="1874519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Мысль в голове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1874519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Segoe UI"/>
              </a:rPr>
              <a:t>Решение Halyk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08860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Сразу после билета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308860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«Надо отель — разберут быстро»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05088" y="2308860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Booking.com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743200"/>
            <a:ext cx="10479024" cy="4343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2743200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После отеля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743200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«Документы в порядке?»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05088" y="2743200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66 госуслуг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" y="3177539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После отеля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3177539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«Страховка нужна, наверное»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3177539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СК Халык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611879"/>
            <a:ext cx="10479024" cy="4343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611879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После отеля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67328" y="3611879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«Сколько вообще уйдёт денег?»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3611879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Автосмета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" y="4046220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За 7 дней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4046220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«Аптечку собрать надо»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4046220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Appteka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" y="4480559"/>
            <a:ext cx="10479024" cy="4343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480559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За 3 дня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67328" y="4480559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«Как с вокзала доедем?»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4480559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inDrive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" y="4914900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За 3 дня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67328" y="4914900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«Чем занять детей в дождь?»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05088" y="4914900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Kino.kz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" y="5349240"/>
            <a:ext cx="10479024" cy="434340"/>
          </a:xfrm>
          <a:prstGeom prst="rect">
            <a:avLst/>
          </a:prstGeom>
          <a:solidFill>
            <a:srgbClr val="F5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5349240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В поездке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67328" y="5349240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«Сколько уже потратили?»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05088" y="5349240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Трекер бюджета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" y="5783579"/>
            <a:ext cx="243230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3211C"/>
                </a:solidFill>
                <a:latin typeface="Segoe UI"/>
              </a:rPr>
              <a:t>После поездки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767328" y="5783579"/>
            <a:ext cx="462686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«Сколько вышло в итоге?»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05088" y="5783579"/>
            <a:ext cx="2523744" cy="4343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Итоги план/факт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04 · ЧТО ВИДИТ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Путь клиента: 10 этапов, 5 фаз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1962851" cy="3566160"/>
          </a:xfrm>
          <a:prstGeom prst="roundRect">
            <a:avLst>
              <a:gd name="adj" fmla="val 7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1962851" cy="786384"/>
          </a:xfrm>
          <a:prstGeom prst="roundRect">
            <a:avLst>
              <a:gd name="adj" fmla="val 8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560320"/>
            <a:ext cx="1962851" cy="329184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76272"/>
            <a:ext cx="1962851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Фаза 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1FAE0"/>
                </a:solidFill>
                <a:latin typeface="Segoe UI"/>
              </a:rPr>
              <a:t>Т−14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3127248"/>
            <a:ext cx="1633667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Жильё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Документы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Страховка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Бюджет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9235" y="2103120"/>
            <a:ext cx="256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68691" y="2103120"/>
            <a:ext cx="1962851" cy="3566160"/>
          </a:xfrm>
          <a:prstGeom prst="roundRect">
            <a:avLst>
              <a:gd name="adj" fmla="val 7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68691" y="2103120"/>
            <a:ext cx="1962851" cy="786384"/>
          </a:xfrm>
          <a:prstGeom prst="roundRect">
            <a:avLst>
              <a:gd name="adj" fmla="val 8000"/>
            </a:avLst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68691" y="2560320"/>
            <a:ext cx="1962851" cy="329184"/>
          </a:xfrm>
          <a:prstGeom prst="rect">
            <a:avLst/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68691" y="2176272"/>
            <a:ext cx="1962851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Фаза 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1FAE0"/>
                </a:solidFill>
                <a:latin typeface="Segoe UI"/>
              </a:rPr>
              <a:t>Т−7…−3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3283" y="3127248"/>
            <a:ext cx="1633667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Аптечка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Трансфер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Развлечения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Ресторан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Погода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4966" y="2103120"/>
            <a:ext cx="256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14422" y="2103120"/>
            <a:ext cx="1962851" cy="3566160"/>
          </a:xfrm>
          <a:prstGeom prst="roundRect">
            <a:avLst>
              <a:gd name="adj" fmla="val 7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14422" y="2103120"/>
            <a:ext cx="1962851" cy="786384"/>
          </a:xfrm>
          <a:prstGeom prst="roundRect">
            <a:avLst>
              <a:gd name="adj" fmla="val 8000"/>
            </a:avLst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114422" y="2560320"/>
            <a:ext cx="1962851" cy="329184"/>
          </a:xfrm>
          <a:prstGeom prst="rect">
            <a:avLst/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14422" y="2176272"/>
            <a:ext cx="1962851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Фаза 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1FAE0"/>
                </a:solidFill>
                <a:latin typeface="Segoe UI"/>
              </a:rPr>
              <a:t>В поезде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79014" y="3127248"/>
            <a:ext cx="1633667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Такси с вокзала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Продукты (апарт)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697" y="2103120"/>
            <a:ext cx="256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60153" y="2103120"/>
            <a:ext cx="1962851" cy="3566160"/>
          </a:xfrm>
          <a:prstGeom prst="roundRect">
            <a:avLst>
              <a:gd name="adj" fmla="val 7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60153" y="2103120"/>
            <a:ext cx="1962851" cy="786384"/>
          </a:xfrm>
          <a:prstGeom prst="roundRect">
            <a:avLst>
              <a:gd name="adj" fmla="val 8000"/>
            </a:avLst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0153" y="2560320"/>
            <a:ext cx="1962851" cy="329184"/>
          </a:xfrm>
          <a:prstGeom prst="rect">
            <a:avLst/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0153" y="2176272"/>
            <a:ext cx="1962851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Фаза 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1FAE0"/>
                </a:solidFill>
                <a:latin typeface="Segoe UI"/>
              </a:rPr>
              <a:t>В Астане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745" y="3127248"/>
            <a:ext cx="1633667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Трекер бюджета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Напоминания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Экстренное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Сувениры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428" y="2103120"/>
            <a:ext cx="2560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05884" y="2103120"/>
            <a:ext cx="1962851" cy="3566160"/>
          </a:xfrm>
          <a:prstGeom prst="roundRect">
            <a:avLst>
              <a:gd name="adj" fmla="val 7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405884" y="2103120"/>
            <a:ext cx="1962851" cy="786384"/>
          </a:xfrm>
          <a:prstGeom prst="roundRect">
            <a:avLst>
              <a:gd name="adj" fmla="val 8000"/>
            </a:avLst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05884" y="2560320"/>
            <a:ext cx="1962851" cy="329184"/>
          </a:xfrm>
          <a:prstGeom prst="rect">
            <a:avLst/>
          </a:prstGeom>
          <a:solidFill>
            <a:srgbClr val="057A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05884" y="2176272"/>
            <a:ext cx="1962851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Фаза 4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D1FAE0"/>
                </a:solidFill>
                <a:latin typeface="Segoe UI"/>
              </a:rPr>
              <a:t>Итоги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70476" y="3127248"/>
            <a:ext cx="1633667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План / Факт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Бонусы Halyk+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>
                <a:solidFill>
                  <a:srgbClr val="00A84B"/>
                </a:solidFill>
                <a:latin typeface="Segoe UI"/>
              </a:rPr>
              <a:t>• </a:t>
            </a:r>
            <a:r>
              <a:rPr sz="1250" b="0">
                <a:solidFill>
                  <a:srgbClr val="23211C"/>
                </a:solidFill>
                <a:latin typeface="Segoe UI"/>
              </a:rPr>
              <a:t>Flywheel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Каждый пункт: </a:t>
            </a:r>
            <a:r>
              <a:rPr sz="1250" b="1">
                <a:solidFill>
                  <a:srgbClr val="057A39"/>
                </a:solidFill>
                <a:latin typeface="Segoe UI"/>
              </a:rPr>
              <a:t>locked → wait → done</a:t>
            </a:r>
            <a:r>
              <a:rPr sz="1250" b="0">
                <a:solidFill>
                  <a:srgbClr val="5C574E"/>
                </a:solidFill>
                <a:latin typeface="Segoe UI"/>
              </a:rPr>
              <a:t>. Разблокировка — автоматически при смене фазы.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4B"/>
                </a:solidFill>
                <a:latin typeface="Segoe UI"/>
              </a:rPr>
              <a:t>04 · ЧТО ВИДИТ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Билет — точка входа. Дальше AI собирает поездку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100584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11095"/>
            <a:ext cx="5230368" cy="43110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2-companion-st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4201297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6281927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9386"/>
                </a:solidFill>
                <a:latin typeface="Segoe UI"/>
              </a:rPr>
              <a:t>Старт companion после покупки билета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5013655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3-шаговый визард </a:t>
            </a:r>
            <a:r>
              <a:rPr sz="1650" b="0">
                <a:solidFill>
                  <a:srgbClr val="5C574E"/>
                </a:solidFill>
                <a:latin typeface="Segoe UI"/>
              </a:rPr>
              <a:t>покупки билета → передаёт клиента в companion.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Первое сообщение: </a:t>
            </a:r>
            <a:r>
              <a:rPr sz="1650" b="0">
                <a:solidFill>
                  <a:srgbClr val="5C574E"/>
                </a:solidFill>
                <a:latin typeface="Segoe UI"/>
              </a:rPr>
              <a:t>билеты куплены, факты поездки, «я — ваш ассистент».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Второе: </a:t>
            </a:r>
            <a:r>
              <a:rPr sz="1650" b="0">
                <a:solidFill>
                  <a:srgbClr val="5C574E"/>
                </a:solidFill>
                <a:latin typeface="Segoe UI"/>
              </a:rPr>
              <a:t>вопрос про жильё — Booking.com и бонусы Halyk.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Справа — живой Travel Plan </a:t>
            </a:r>
            <a:r>
              <a:rPr sz="1650" b="0">
                <a:solidFill>
                  <a:srgbClr val="5C574E"/>
                </a:solidFill>
                <a:latin typeface="Segoe UI"/>
              </a:rPr>
              <a:t>из 10 пунктов и бюджет.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C87E3C"/>
                </a:solidFill>
                <a:latin typeface="Segoe UI"/>
              </a:rPr>
              <a:t>★ ГЛАВНОЕ КОНКУРЕНТНОЕ ПРЕИМУЩЕСТВО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Проактивная проверка документов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100584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11095"/>
            <a:ext cx="5230368" cy="4311025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w3-doc-alert-insur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4201297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6281927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9386"/>
                </a:solidFill>
                <a:latin typeface="Segoe UI"/>
              </a:rPr>
              <a:t>Алерт о документах появляется сам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5013655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Halyk сам проверяет </a:t>
            </a:r>
            <a:r>
              <a:rPr sz="1650" b="0">
                <a:solidFill>
                  <a:srgbClr val="5C574E"/>
                </a:solidFill>
                <a:latin typeface="Segoe UI"/>
              </a:rPr>
              <a:t>документы семьи через 66 госуслуг — молча.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Замечает: </a:t>
            </a:r>
            <a:r>
              <a:rPr sz="1650" b="0">
                <a:solidFill>
                  <a:srgbClr val="5C574E"/>
                </a:solidFill>
                <a:latin typeface="Segoe UI"/>
              </a:rPr>
              <a:t>удостоверение Алии истекает 28 июля → предлагает eGov заранее.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Только Halyk знает эти данные. </a:t>
            </a:r>
            <a:r>
              <a:rPr sz="1650" b="0">
                <a:solidFill>
                  <a:srgbClr val="5C574E"/>
                </a:solidFill>
                <a:latin typeface="Segoe UI"/>
              </a:rPr>
              <a:t>Конкурент этого не сделает.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Одно такое уведомление </a:t>
            </a:r>
            <a:r>
              <a:rPr sz="1650" b="0">
                <a:solidFill>
                  <a:srgbClr val="5C574E"/>
                </a:solidFill>
                <a:latin typeface="Segoe UI"/>
              </a:rPr>
              <a:t>строит больше доверия, чем любой кешбэк.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04 · ЧТО ВИДИТ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Сквозной бюджет: «всё под контролем»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2231136"/>
            <a:ext cx="5047488" cy="1711951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udget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286000"/>
            <a:ext cx="4937760" cy="1602223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4434840"/>
            <a:ext cx="4937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9386"/>
                </a:solidFill>
                <a:latin typeface="Segoe UI"/>
              </a:rPr>
              <a:t>Панель бюджета на старте поездки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37760"/>
            <a:ext cx="4937760" cy="914400"/>
          </a:xfrm>
          <a:prstGeom prst="roundRect">
            <a:avLst>
              <a:gd name="adj" fmla="val 8000"/>
            </a:avLst>
          </a:prstGeom>
          <a:solidFill>
            <a:srgbClr val="F1F6EF"/>
          </a:solidFill>
          <a:ln w="12700">
            <a:solidFill>
              <a:srgbClr val="E7F1E7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45720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5C574E"/>
                </a:solidFill>
                <a:latin typeface="Segoe UI"/>
              </a:rPr>
              <a:t>Факт растёт:  </a:t>
            </a:r>
            <a:r>
              <a:rPr sz="1400" b="1">
                <a:solidFill>
                  <a:srgbClr val="057A39"/>
                </a:solidFill>
                <a:latin typeface="Segoe UI"/>
              </a:rPr>
              <a:t>38 000 → 89 000 → 105 000 ₸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74E"/>
                </a:solidFill>
                <a:latin typeface="Segoe UI"/>
              </a:rPr>
              <a:t>Расчётное тает, итог держится </a:t>
            </a:r>
            <a:r>
              <a:rPr sz="1400" b="1">
                <a:solidFill>
                  <a:srgbClr val="23211C"/>
                </a:solidFill>
                <a:latin typeface="Segoe UI"/>
              </a:rPr>
              <a:t>~175 000 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8600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Два уровня: </a:t>
            </a:r>
            <a:r>
              <a:rPr sz="1600" b="0">
                <a:solidFill>
                  <a:srgbClr val="5C574E"/>
                </a:solidFill>
                <a:latin typeface="Segoe UI"/>
              </a:rPr>
              <a:t>Факт (оплачено/зарезервировано) + Расчётное (прогноз системы).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Смета собирается сама </a:t>
            </a:r>
            <a:r>
              <a:rPr sz="1600" b="0">
                <a:solidFill>
                  <a:srgbClr val="5C574E"/>
                </a:solidFill>
                <a:latin typeface="Segoe UI"/>
              </a:rPr>
              <a:t>по известным данным — клиент ничего не вводит.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По мере оплат </a:t>
            </a:r>
            <a:r>
              <a:rPr sz="1600" b="0">
                <a:solidFill>
                  <a:srgbClr val="5C574E"/>
                </a:solidFill>
                <a:latin typeface="Segoe UI"/>
              </a:rPr>
              <a:t>деньги перетекают из расчётного в факт, итог стабилен.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5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Это эмоциональный продукт, </a:t>
            </a:r>
            <a:r>
              <a:rPr sz="1600" b="0">
                <a:solidFill>
                  <a:srgbClr val="5C574E"/>
                </a:solidFill>
                <a:latin typeface="Segoe UI"/>
              </a:rPr>
              <a:t>не аналитический: клиент перестаёт беспокоиться о деньгах.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4B"/>
                </a:solidFill>
                <a:latin typeface="Segoe UI"/>
              </a:rPr>
              <a:t>04 · ЧТО ВИДИТ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Погода меняет план поездки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100584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11095"/>
            <a:ext cx="5230368" cy="4306082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-phase1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120640" cy="4196355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6281927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9386"/>
                </a:solidFill>
                <a:latin typeface="Segoe UI"/>
              </a:rPr>
              <a:t>Фаза 1: подготовка под дождь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65960"/>
            <a:ext cx="5013655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Система мониторит прогноз </a:t>
            </a:r>
            <a:r>
              <a:rPr sz="1650" b="0">
                <a:solidFill>
                  <a:srgbClr val="5C574E"/>
                </a:solidFill>
                <a:latin typeface="Segoe UI"/>
              </a:rPr>
              <a:t>с момента покупки билета.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Дождливая суббота +14° </a:t>
            </a:r>
            <a:r>
              <a:rPr sz="1650" b="0">
                <a:solidFill>
                  <a:srgbClr val="5C574E"/>
                </a:solidFill>
                <a:latin typeface="Segoe UI"/>
              </a:rPr>
              <a:t>→ только крытые активности (Думан), дождевики, такси.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Рекомендации адаптируются: </a:t>
            </a:r>
            <a:r>
              <a:rPr sz="1650" b="0">
                <a:solidFill>
                  <a:srgbClr val="5C574E"/>
                </a:solidFill>
                <a:latin typeface="Segoe UI"/>
              </a:rPr>
              <a:t>дождь · жара · холод · норма — разные сценарии.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В демо — дождевой сценарий: </a:t>
            </a:r>
            <a:r>
              <a:rPr sz="1650" b="0">
                <a:solidFill>
                  <a:srgbClr val="5C574E"/>
                </a:solidFill>
                <a:latin typeface="Segoe UI"/>
              </a:rPr>
              <a:t>самая богатая логика.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04 · ЧТО ВИДИТ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В пути и на месте: момент важнее экрана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11095"/>
            <a:ext cx="5130850" cy="422452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4-phase3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021122" cy="4114800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608990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9386"/>
                </a:solidFill>
                <a:latin typeface="Segoe UI"/>
              </a:rPr>
              <a:t>Фаза 3: живой трекер и напоминания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505937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550" b="1">
                <a:solidFill>
                  <a:srgbClr val="23211C"/>
                </a:solidFill>
                <a:latin typeface="Segoe UI"/>
              </a:rPr>
              <a:t>За 10 минут до Астаны </a:t>
            </a:r>
            <a:r>
              <a:rPr sz="1550" b="0">
                <a:solidFill>
                  <a:srgbClr val="5C574E"/>
                </a:solidFill>
                <a:latin typeface="Segoe UI"/>
              </a:rPr>
              <a:t>— такси одним тапом (клиент стоит с детьми и чемоданами).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550" b="1">
                <a:solidFill>
                  <a:srgbClr val="23211C"/>
                </a:solidFill>
                <a:latin typeface="Segoe UI"/>
              </a:rPr>
              <a:t>Живой трекер: </a:t>
            </a:r>
            <a:r>
              <a:rPr sz="1550" b="0">
                <a:solidFill>
                  <a:srgbClr val="5C574E"/>
                </a:solidFill>
                <a:latin typeface="Segoe UI"/>
              </a:rPr>
              <a:t>платежи картой Halyk сами падают в категории бюджета.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37376" y="4288536"/>
            <a:ext cx="3005160" cy="1664207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merg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4343400"/>
            <a:ext cx="2895432" cy="1554480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492240" y="4069080"/>
            <a:ext cx="4754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3211C"/>
                </a:solidFill>
                <a:latin typeface="Segoe UI"/>
              </a:rPr>
              <a:t>Экстренный блок — всегда под рукой: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A84B"/>
                </a:solidFill>
                <a:latin typeface="Segoe UI"/>
              </a:rPr>
              <a:t>04 · ЧТО ВИДИТ КЛИЕНТ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Итоги план/факт и новый виток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100584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68096" y="1911095"/>
            <a:ext cx="5354011" cy="440740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-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5244283" cy="4297680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822960" y="6281927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99386"/>
                </a:solidFill>
                <a:latin typeface="Segoe UI"/>
              </a:rPr>
              <a:t>Экран Итоги + Flywheel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1965960"/>
            <a:ext cx="4739335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План 175 000 → Факт 169 500 ₸ </a:t>
            </a:r>
            <a:r>
              <a:rPr sz="1650" b="0">
                <a:solidFill>
                  <a:srgbClr val="5C574E"/>
                </a:solidFill>
                <a:latin typeface="Segoe UI"/>
              </a:rPr>
              <a:t>(−5 500). Уложились в бюджет 🎯.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Бонусы Halyk+ начислены, </a:t>
            </a:r>
            <a:r>
              <a:rPr sz="1650" b="0">
                <a:solidFill>
                  <a:srgbClr val="5C574E"/>
                </a:solidFill>
                <a:latin typeface="Segoe UI"/>
              </a:rPr>
              <a:t>категория клиента повышена.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Три варианта следующей поездки </a:t>
            </a:r>
            <a:r>
              <a:rPr sz="1650" b="0">
                <a:solidFill>
                  <a:srgbClr val="5C574E"/>
                </a:solidFill>
                <a:latin typeface="Segoe UI"/>
              </a:rPr>
              <a:t>— Бурабай, Алаколь, Шымкент.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Один тап → </a:t>
            </a:r>
            <a:r>
              <a:rPr sz="1650" b="0">
                <a:solidFill>
                  <a:srgbClr val="5C574E"/>
                </a:solidFill>
                <a:latin typeface="Segoe UI"/>
              </a:rPr>
              <a:t>Halyk Travel с поиском. Цикл (flywheel) замыкается.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05 · ЦЕННОСТЬ И БУДУЩЕЕ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Каждая тревога — точка монетизации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8424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33856" y="1874519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Booking.com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revenue share + бонусы Halyk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8424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874519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СК Халык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страховая премия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843784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2953512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843784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Appteka · inDrive · Airba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revenue share с партнёров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843784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2953512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28816" y="2843784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Kino.kz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прямой доход (сервис Halyk) + бонусы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813048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22960" y="3922776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3856" y="3813048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Halyk Market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продажа + рассрочка Homebank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813048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17920" y="3922776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28816" y="3813048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Halyk Pay / QR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interchange + данные о тратах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82312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892040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33856" y="4782312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66 госуслуг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доверие и retention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782312"/>
            <a:ext cx="5120640" cy="749808"/>
          </a:xfrm>
          <a:prstGeom prst="roundRect">
            <a:avLst>
              <a:gd name="adj" fmla="val 12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17920" y="4892040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4782312"/>
            <a:ext cx="4626864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Halyk+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лояльность → flywheel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6089904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57A39"/>
                </a:solidFill>
                <a:latin typeface="Segoe UI"/>
              </a:rPr>
              <a:t>Клиент остаётся внутри экосистемы Halyk всю поездку — не уходит к конкурентам.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05 · ЦЕННОСТЬ И БУДУЩЕЕ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Три ключевых вывода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261360" cy="3566160"/>
          </a:xfrm>
          <a:prstGeom prst="roundRect">
            <a:avLst>
              <a:gd name="adj" fmla="val 5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146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>
            <a:outerShdw blurRad="54864" dist="27432" dir="5400000" rotWithShape="0">
              <a:srgbClr val="2B26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514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26212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3211C"/>
                </a:solidFill>
                <a:latin typeface="Segoe UI"/>
              </a:rPr>
              <a:t>Тревоги, не сервисы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74E"/>
                </a:solidFill>
                <a:latin typeface="Segoe UI"/>
              </a:rPr>
              <a:t>Продукт отвечает на конкретную мысль клиента в нужный момент времени, а не предлагает услуги по календарю.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50080" y="2103120"/>
            <a:ext cx="3261360" cy="3566160"/>
          </a:xfrm>
          <a:prstGeom prst="roundRect">
            <a:avLst>
              <a:gd name="adj" fmla="val 5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70119" y="25146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>
            <a:outerShdw blurRad="54864" dist="27432" dir="5400000" rotWithShape="0">
              <a:srgbClr val="2B26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0119" y="2514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70119" y="3474720"/>
            <a:ext cx="26212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3211C"/>
                </a:solidFill>
                <a:latin typeface="Segoe UI"/>
              </a:rPr>
              <a:t>Проактивная проверка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74E"/>
                </a:solidFill>
                <a:latin typeface="Segoe UI"/>
              </a:rPr>
              <a:t>Документы и погода — преимущество, доступное только Halyk: данные семьи уже в экосистеме.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77199" y="2103120"/>
            <a:ext cx="3261360" cy="3566160"/>
          </a:xfrm>
          <a:prstGeom prst="roundRect">
            <a:avLst>
              <a:gd name="adj" fmla="val 5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97239" y="2514600"/>
            <a:ext cx="777240" cy="777240"/>
          </a:xfrm>
          <a:prstGeom prst="roundRect">
            <a:avLst>
              <a:gd name="adj" fmla="val 50000"/>
            </a:avLst>
          </a:prstGeom>
          <a:solidFill>
            <a:srgbClr val="00A84B"/>
          </a:solidFill>
          <a:ln>
            <a:noFill/>
          </a:ln>
          <a:effectLst>
            <a:outerShdw blurRad="54864" dist="27432" dir="5400000" rotWithShape="0">
              <a:srgbClr val="2B262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7239" y="2514600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7239" y="3474720"/>
            <a:ext cx="2621279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>
                <a:solidFill>
                  <a:srgbClr val="23211C"/>
                </a:solidFill>
                <a:latin typeface="Segoe UI"/>
              </a:rPr>
              <a:t>Трекер = стимул карты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C574E"/>
                </a:solidFill>
                <a:latin typeface="Segoe UI"/>
              </a:rPr>
              <a:t>Полная картина трат только по транзакциям Halyk. Наличные не видны — клиент сам хочет платить картой.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05 · ЦЕННОСТЬ И БУДУЩЕЕ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От семьи на поезде — к B2B-командировкам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2457450" cy="3474720"/>
          </a:xfrm>
          <a:prstGeom prst="roundRect">
            <a:avLst>
              <a:gd name="adj" fmla="val 6000"/>
            </a:avLst>
          </a:prstGeom>
          <a:solidFill>
            <a:srgbClr val="E7F1E7"/>
          </a:solidFill>
          <a:ln w="19050">
            <a:solidFill>
              <a:srgbClr val="00A84B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423160"/>
            <a:ext cx="20002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057A39"/>
                </a:solidFill>
                <a:latin typeface="Segoe UI"/>
              </a:rPr>
              <a:t>Фаза 1 · MVP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3211C"/>
                </a:solidFill>
                <a:latin typeface="Segoe UI"/>
              </a:rPr>
              <a:t>Семья, ЖД, маршруты КЗ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840479"/>
            <a:ext cx="2000250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Жильё + страховка + трансфер + Kino.kz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2122" y="2103120"/>
            <a:ext cx="265176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09010" y="2103120"/>
            <a:ext cx="2457450" cy="34747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7610" y="2423160"/>
            <a:ext cx="20002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5C574E"/>
                </a:solidFill>
                <a:latin typeface="Segoe UI"/>
              </a:rPr>
              <a:t>Фаза 2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3211C"/>
                </a:solidFill>
                <a:latin typeface="Segoe UI"/>
              </a:rPr>
              <a:t>Авиа + международка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7610" y="3840479"/>
            <a:ext cx="2000250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Виза, медицина за рубежом, валюта в плане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8172" y="2103120"/>
            <a:ext cx="265176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5060" y="2103120"/>
            <a:ext cx="2457450" cy="34747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3660" y="2423160"/>
            <a:ext cx="20002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5C574E"/>
                </a:solidFill>
                <a:latin typeface="Segoe UI"/>
              </a:rPr>
              <a:t>Фаза 3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3211C"/>
                </a:solidFill>
                <a:latin typeface="Segoe UI"/>
              </a:rPr>
              <a:t>Персонализация и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3660" y="3840479"/>
            <a:ext cx="2000250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Рекомендации и бюджет на основе истории поездок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4222" y="2103120"/>
            <a:ext cx="265176" cy="3474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81110" y="2103120"/>
            <a:ext cx="2457450" cy="3474720"/>
          </a:xfrm>
          <a:prstGeom prst="roundRect">
            <a:avLst>
              <a:gd name="adj" fmla="val 6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09710" y="2423160"/>
            <a:ext cx="200025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>
                <a:solidFill>
                  <a:srgbClr val="5C574E"/>
                </a:solidFill>
                <a:latin typeface="Segoe UI"/>
              </a:rPr>
              <a:t>Фаза 4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23211C"/>
                </a:solidFill>
                <a:latin typeface="Segoe UI"/>
              </a:rPr>
              <a:t>B2B — командировки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09710" y="3840479"/>
            <a:ext cx="2000250" cy="1554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Корпоративный Travel Plan, отчёты, HR-интеграции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960120" cy="347472"/>
          </a:xfrm>
          <a:prstGeom prst="roundRect">
            <a:avLst>
              <a:gd name="adj" fmla="val 50000"/>
            </a:avLst>
          </a:prstGeom>
          <a:solidFill>
            <a:srgbClr val="E7F1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96012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57A39"/>
                </a:solidFill>
                <a:latin typeface="Segoe UI"/>
              </a:rPr>
              <a:t>ДЕМО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65836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4600" b="0">
                <a:solidFill>
                  <a:srgbClr val="23211C"/>
                </a:solidFill>
                <a:latin typeface="Georgia"/>
              </a:rPr>
              <a:t>Демо вживую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57A39"/>
                </a:solidFill>
                <a:latin typeface="Segoe UI"/>
              </a:rPr>
              <a:t>docker compose up  →  localhost:8000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83280"/>
            <a:ext cx="64008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0">
                <a:solidFill>
                  <a:srgbClr val="23211C"/>
                </a:solidFill>
                <a:latin typeface="Segoe UI"/>
              </a:rPr>
              <a:t>Визард покупки билета → передача в companion.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0">
                <a:solidFill>
                  <a:srgbClr val="23211C"/>
                </a:solidFill>
                <a:latin typeface="Segoe UI"/>
              </a:rPr>
              <a:t>Жильё → проактивный алерт о документах → страховка → бюджет.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0">
                <a:solidFill>
                  <a:srgbClr val="23211C"/>
                </a:solidFill>
                <a:latin typeface="Segoe UI"/>
              </a:rPr>
              <a:t>Погодная адаптация, живой трекер, экстренный блок.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0">
                <a:solidFill>
                  <a:srgbClr val="23211C"/>
                </a:solidFill>
                <a:latin typeface="Segoe UI"/>
              </a:rPr>
              <a:t>Итоги план/факт и Flywheel.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5216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999386"/>
                </a:solidFill>
                <a:latin typeface="Segoe UI"/>
              </a:rPr>
              <a:t>Работает полностью оффлайн — fallback на каждом шаге, сеть не нужна.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17536" y="1453895"/>
            <a:ext cx="3767328" cy="3107124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6E0D2"/>
            </a:solidFill>
          </a:ln>
          <a:effectLst>
            <a:outerShdw blurRad="109728" dist="64008" dir="5400000" rotWithShape="0">
              <a:srgbClr val="2B2620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-phase0-d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508760"/>
            <a:ext cx="3657600" cy="2997396"/>
          </a:xfrm>
          <a:prstGeom prst="rect">
            <a:avLst/>
          </a:prstGeom>
          <a:ln w="9525">
            <a:solidFill>
              <a:srgbClr val="E6E0D2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7772400" y="5897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999386"/>
                </a:solidFill>
                <a:latin typeface="Segoe UI"/>
              </a:rPr>
              <a:t>Резервный скриншот на случай сбоя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06 · КАК ЭТО ПОСТРОЕНО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Один контейнер, весь путь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48840"/>
            <a:ext cx="2251710" cy="1188720"/>
          </a:xfrm>
          <a:prstGeom prst="roundRect">
            <a:avLst>
              <a:gd name="adj" fmla="val 10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48840"/>
            <a:ext cx="225171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11C"/>
                </a:solidFill>
                <a:latin typeface="Segoe UI"/>
              </a:rPr>
              <a:t>React SPA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74E"/>
                </a:solidFill>
                <a:latin typeface="Segoe UI"/>
              </a:rPr>
              <a:t>Vite + 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74670" y="2148840"/>
            <a:ext cx="502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A84B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77590" y="2148840"/>
            <a:ext cx="2251710" cy="1188720"/>
          </a:xfrm>
          <a:prstGeom prst="roundRect">
            <a:avLst>
              <a:gd name="adj" fmla="val 10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7590" y="2148840"/>
            <a:ext cx="225171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11C"/>
                </a:solidFill>
                <a:latin typeface="Segoe UI"/>
              </a:rPr>
              <a:t>Django + DRF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74E"/>
                </a:solidFill>
                <a:latin typeface="Segoe UI"/>
              </a:rPr>
              <a:t>5 endpoints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9300" y="2148840"/>
            <a:ext cx="502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A84B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2220" y="2148840"/>
            <a:ext cx="2251710" cy="1188720"/>
          </a:xfrm>
          <a:prstGeom prst="roundRect">
            <a:avLst>
              <a:gd name="adj" fmla="val 10000"/>
            </a:avLst>
          </a:prstGeom>
          <a:solidFill>
            <a:srgbClr val="00A84B"/>
          </a:solidFill>
          <a:ln>
            <a:noFill/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2220" y="2148840"/>
            <a:ext cx="225171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Segoe UI"/>
              </a:rPr>
              <a:t>LangGraph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1FAE0"/>
                </a:solidFill>
                <a:latin typeface="Segoe UI"/>
              </a:rPr>
              <a:t>ядро-граф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83930" y="2148840"/>
            <a:ext cx="5029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A84B"/>
                </a:solidFill>
                <a:latin typeface="Segoe U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6850" y="2148840"/>
            <a:ext cx="2251710" cy="1188720"/>
          </a:xfrm>
          <a:prstGeom prst="roundRect">
            <a:avLst>
              <a:gd name="adj" fmla="val 10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86850" y="2148840"/>
            <a:ext cx="225171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550" b="1">
                <a:solidFill>
                  <a:srgbClr val="23211C"/>
                </a:solidFill>
                <a:latin typeface="Segoe UI"/>
              </a:rPr>
              <a:t>claude-haiku-4-5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C574E"/>
                </a:solidFill>
                <a:latin typeface="Segoe UI"/>
              </a:rPr>
              <a:t>или fallback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C574E"/>
                </a:solidFill>
                <a:latin typeface="Segoe UI"/>
              </a:rPr>
              <a:t>Django ORM (SQLite) — единый источник правды.  WhiteNoise отдаёт SPA.  Всё в одном Docker-образе.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0624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550" b="1">
                <a:solidFill>
                  <a:srgbClr val="23211C"/>
                </a:solidFill>
                <a:latin typeface="Segoe UI"/>
              </a:rPr>
              <a:t>Стек: </a:t>
            </a:r>
            <a:r>
              <a:rPr sz="1550" b="0">
                <a:solidFill>
                  <a:srgbClr val="5C574E"/>
                </a:solidFill>
                <a:latin typeface="Segoe UI"/>
              </a:rPr>
              <a:t>Django 5 + DRF · React 18 / Vite / TS · SQLite · LangChain/LangGraph · Gunicorn · Docker.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550" b="1">
                <a:solidFill>
                  <a:srgbClr val="23211C"/>
                </a:solidFill>
                <a:latin typeface="Segoe UI"/>
              </a:rPr>
              <a:t>Запуск: </a:t>
            </a:r>
            <a:r>
              <a:rPr sz="1550" b="0">
                <a:solidFill>
                  <a:srgbClr val="5C574E"/>
                </a:solidFill>
                <a:latin typeface="Segoe UI"/>
              </a:rPr>
              <a:t>docker compose up → localhost:8000, end-to-end в один шаг.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300"/>
              </a:spcAft>
            </a:pPr>
            <a:r>
              <a:rPr sz="15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550" b="1">
                <a:solidFill>
                  <a:srgbClr val="23211C"/>
                </a:solidFill>
                <a:latin typeface="Segoe UI"/>
              </a:rPr>
              <a:t>Демо работает полностью оффлайн: </a:t>
            </a:r>
            <a:r>
              <a:rPr sz="1550" b="0">
                <a:solidFill>
                  <a:srgbClr val="5C574E"/>
                </a:solidFill>
                <a:latin typeface="Segoe UI"/>
              </a:rPr>
              <a:t>у каждого AI-шага есть готовый fallback.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06 · КАК ЭТО ПОСТРОЕНО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Граф — это и есть продукт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9456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E7F1E7"/>
          </a:solidFill>
          <a:ln w="12700">
            <a:solidFill>
              <a:srgbClr val="00A84B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7A39"/>
                </a:solidFill>
                <a:latin typeface="Segoe UI"/>
              </a:rPr>
              <a:t>apply_answer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19456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E7F1E7"/>
          </a:solidFill>
          <a:ln w="12700">
            <a:solidFill>
              <a:srgbClr val="00A84B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31920" y="21945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7A39"/>
                </a:solidFill>
                <a:latin typeface="Segoe UI"/>
              </a:rPr>
              <a:t>advance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94560"/>
            <a:ext cx="6400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99386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194560"/>
            <a:ext cx="2468880" cy="914400"/>
          </a:xfrm>
          <a:prstGeom prst="roundRect">
            <a:avLst>
              <a:gd name="adj" fmla="val 12000"/>
            </a:avLst>
          </a:prstGeom>
          <a:solidFill>
            <a:srgbClr val="E7F1E7"/>
          </a:solidFill>
          <a:ln w="12700">
            <a:solidFill>
              <a:srgbClr val="00A84B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2194560"/>
            <a:ext cx="24688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57A39"/>
                </a:solidFill>
                <a:latin typeface="Segoe UI"/>
              </a:rPr>
              <a:t>generate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2194560"/>
            <a:ext cx="12801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99386"/>
                </a:solidFill>
                <a:latin typeface="Segoe UI"/>
              </a:rPr>
              <a:t>→ снапшот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566160"/>
            <a:ext cx="1051560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Декларативный сценарий: </a:t>
            </a:r>
            <a:r>
              <a:rPr sz="1600" b="0">
                <a:solidFill>
                  <a:srgbClr val="5C574E"/>
                </a:solidFill>
                <a:latin typeface="Segoe UI"/>
              </a:rPr>
              <a:t>фазы → шаги → чипсы. Контент отделён от движка.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Human-in-the-loop: </a:t>
            </a:r>
            <a:r>
              <a:rPr sz="1600" b="0">
                <a:solidFill>
                  <a:srgbClr val="5C574E"/>
                </a:solidFill>
                <a:latin typeface="Segoe UI"/>
              </a:rPr>
              <a:t>клиент отвечает чипсами, граф делает один ход и ждёт.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Stateless поверх Django ORM </a:t>
            </a:r>
            <a:r>
              <a:rPr sz="1600" b="0">
                <a:solidFill>
                  <a:srgbClr val="5C574E"/>
                </a:solidFill>
                <a:latin typeface="Segoe UI"/>
              </a:rPr>
              <a:t>— единый источник правды, без чекпойнтера LangGraph.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00" b="1">
                <a:solidFill>
                  <a:srgbClr val="23211C"/>
                </a:solidFill>
                <a:latin typeface="Segoe UI"/>
              </a:rPr>
              <a:t>Состояние после рестарта </a:t>
            </a:r>
            <a:r>
              <a:rPr sz="1600" b="0">
                <a:solidFill>
                  <a:srgbClr val="5C574E"/>
                </a:solidFill>
                <a:latin typeface="Segoe UI"/>
              </a:rPr>
              <a:t>= phase + step_index + plan + budget + messages. Переживает перезапуск и refresh.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265615" y="6446520"/>
            <a:ext cx="2743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999386"/>
                </a:solidFill>
                <a:latin typeface="Segoe UI"/>
              </a:rPr>
              <a:t>Halyk Smart Travel Companion   ·   </a:t>
            </a:r>
            <a:r>
              <a:rPr sz="900" b="0">
                <a:solidFill>
                  <a:srgbClr val="5C574E"/>
                </a:solidFill>
                <a:latin typeface="Segoe UI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0350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57A39"/>
                </a:solidFill>
                <a:latin typeface="Segoe UI"/>
              </a:rPr>
              <a:t>06 · КАК ЭТО ПОСТРОЕНО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50976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300" b="0">
                <a:solidFill>
                  <a:srgbClr val="23211C"/>
                </a:solidFill>
                <a:latin typeface="Georgia"/>
              </a:rPr>
              <a:t>Язык тревоги, а не продажи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627632"/>
            <a:ext cx="822960" cy="36576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03504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claude-haiku-4-5 </a:t>
            </a:r>
            <a:r>
              <a:rPr sz="1650" b="0">
                <a:solidFill>
                  <a:srgbClr val="5C574E"/>
                </a:solidFill>
                <a:latin typeface="Segoe UI"/>
              </a:rPr>
              <a:t>генерирует каждое сообщение под контекст: погода, дети, отель.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Тон официальный, на «Вы»; </a:t>
            </a:r>
            <a:r>
              <a:rPr sz="1650" b="0">
                <a:solidFill>
                  <a:srgbClr val="5C574E"/>
                </a:solidFill>
                <a:latin typeface="Segoe UI"/>
              </a:rPr>
              <a:t>схема explain-then-offer (сначала зачем, потом предложение).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На любой ошибке или без ключа </a:t>
            </a:r>
            <a:r>
              <a:rPr sz="1650" b="0">
                <a:solidFill>
                  <a:srgbClr val="5C574E"/>
                </a:solidFill>
                <a:latin typeface="Segoe UI"/>
              </a:rPr>
              <a:t>→ канонический fallback-текст шага.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600"/>
              </a:spcAft>
            </a:pPr>
            <a:r>
              <a:rPr sz="1650" b="1">
                <a:solidFill>
                  <a:srgbClr val="00A84B"/>
                </a:solidFill>
                <a:latin typeface="Segoe UI"/>
              </a:rPr>
              <a:t>•  </a:t>
            </a:r>
            <a:r>
              <a:rPr sz="1650" b="1">
                <a:solidFill>
                  <a:srgbClr val="23211C"/>
                </a:solidFill>
                <a:latin typeface="Segoe UI"/>
              </a:rPr>
              <a:t>Поэтому поездка всегда доходит до конца </a:t>
            </a:r>
            <a:r>
              <a:rPr sz="1650" b="0">
                <a:solidFill>
                  <a:srgbClr val="5C574E"/>
                </a:solidFill>
                <a:latin typeface="Segoe UI"/>
              </a:rPr>
              <a:t>— даже без сети и без API-ключа.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03120"/>
            <a:ext cx="4114800" cy="3749039"/>
          </a:xfrm>
          <a:prstGeom prst="roundRect">
            <a:avLst>
              <a:gd name="adj" fmla="val 5000"/>
            </a:avLst>
          </a:prstGeom>
          <a:solidFill>
            <a:srgbClr val="FDFCF9"/>
          </a:solidFill>
          <a:ln w="12700">
            <a:solidFill>
              <a:srgbClr val="E6E0D2"/>
            </a:solidFill>
          </a:ln>
          <a:effectLst>
            <a:outerShdw blurRad="128016" dist="45720" dir="5400000" rotWithShape="0">
              <a:srgbClr val="2B2620">
                <a:alpha val="1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23760" y="2286000"/>
            <a:ext cx="91440" cy="338328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43800" y="2423160"/>
            <a:ext cx="35204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1">
                <a:solidFill>
                  <a:srgbClr val="057A39"/>
                </a:solidFill>
                <a:latin typeface="Segoe UI"/>
              </a:rPr>
              <a:t>Принцип системного промпта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1200"/>
              </a:spcAft>
            </a:pPr>
            <a:r>
              <a:rPr sz="1450" b="0">
                <a:solidFill>
                  <a:srgbClr val="23211C"/>
                </a:solidFill>
                <a:latin typeface="Segoe UI"/>
              </a:rPr>
              <a:t>«Каждое сообщение отвечает на конкретную мысль-тревогу клиента — он чувствует заботу, не продажу. Стиль официальный, на «Вы». Без нагнетания.»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574E"/>
                </a:solidFill>
                <a:latin typeface="Segoe UI"/>
              </a:rPr>
              <a:t>→ fallback гарантирует, что демо никогда не «падает» из-за сети.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B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713232"/>
            <a:ext cx="403250" cy="403250"/>
          </a:xfrm>
          <a:prstGeom prst="roundRect">
            <a:avLst>
              <a:gd name="adj" fmla="val 30000"/>
            </a:avLst>
          </a:prstGeom>
          <a:solidFill>
            <a:srgbClr val="00A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13232"/>
            <a:ext cx="403250" cy="4032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Segoe UI"/>
              </a:rPr>
              <a:t>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41424" y="674827"/>
            <a:ext cx="3072384" cy="49469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211C"/>
                </a:solidFill>
                <a:latin typeface="Segoe UI"/>
              </a:rPr>
              <a:t>Halyk </a:t>
            </a:r>
            <a:r>
              <a:rPr sz="1700" b="1">
                <a:solidFill>
                  <a:srgbClr val="00A84B"/>
                </a:solidFill>
                <a:latin typeface="Segoe UI"/>
              </a:rPr>
              <a:t>Smart Travel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4000" b="0">
                <a:solidFill>
                  <a:srgbClr val="23211C"/>
                </a:solidFill>
                <a:latin typeface="Georgia"/>
              </a:rPr>
              <a:t>Halyk перестаёт </a:t>
            </a:r>
            <a:r>
              <a:rPr sz="4000" b="0">
                <a:solidFill>
                  <a:srgbClr val="999386"/>
                </a:solidFill>
                <a:latin typeface="Georgia"/>
              </a:rPr>
              <a:t>продавать билеты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23211C"/>
                </a:solidFill>
                <a:latin typeface="Georgia"/>
              </a:rPr>
              <a:t>— и начинает </a:t>
            </a:r>
            <a:r>
              <a:rPr sz="4000" b="0">
                <a:solidFill>
                  <a:srgbClr val="057A39"/>
                </a:solidFill>
                <a:latin typeface="Georgia"/>
              </a:rPr>
              <a:t>вести клиента.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>
                <a:solidFill>
                  <a:srgbClr val="5C574E"/>
                </a:solidFill>
                <a:latin typeface="Segoe UI"/>
              </a:rPr>
              <a:t>От покупки билета до возвращения домой — каждая тревога закрыта в нужный момент.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211C"/>
                </a:solidFill>
                <a:latin typeface="Segoe UI"/>
              </a:rPr>
              <a:t>Спасибо!   </a:t>
            </a:r>
            <a:r>
              <a:rPr sz="1500" b="0">
                <a:solidFill>
                  <a:srgbClr val="999386"/>
                </a:solidFill>
                <a:latin typeface="Segoe UI"/>
              </a:rPr>
              <a:t>Демо: docker compose up → localhost:8000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